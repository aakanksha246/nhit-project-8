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12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51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749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56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63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82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896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33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45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673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34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2885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190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6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579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0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0E16D0-F772-48E7-8951-B02A36F0661B}"/>
              </a:ext>
            </a:extLst>
          </p:cNvPr>
          <p:cNvSpPr txBox="1"/>
          <p:nvPr/>
        </p:nvSpPr>
        <p:spPr>
          <a:xfrm>
            <a:off x="777240" y="1325880"/>
            <a:ext cx="7584335" cy="2043636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rPr lang="en-US" dirty="0">
                <a:highlight>
                  <a:srgbClr val="000000"/>
                </a:highlight>
              </a:rPr>
              <a:t>Project - 8</a:t>
            </a:r>
          </a:p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endParaRPr lang="en-IN" dirty="0">
              <a:highlight>
                <a:srgbClr val="000000"/>
              </a:highlight>
            </a:endParaRPr>
          </a:p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rPr dirty="0">
                <a:highlight>
                  <a:srgbClr val="000000"/>
                </a:highlight>
              </a:rPr>
              <a:t>JOB MARKET ANALYSIS</a:t>
            </a:r>
          </a:p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rPr dirty="0">
                <a:highlight>
                  <a:srgbClr val="000000"/>
                </a:highlight>
              </a:rPr>
              <a:t>&amp; RECOMMENDATION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8B51C6-3FC3-45A9-BC09-51968624753C}"/>
              </a:ext>
            </a:extLst>
          </p:cNvPr>
          <p:cNvSpPr txBox="1"/>
          <p:nvPr/>
        </p:nvSpPr>
        <p:spPr>
          <a:xfrm>
            <a:off x="1077483" y="5372276"/>
            <a:ext cx="3004322" cy="81253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>
                <a:highlight>
                  <a:srgbClr val="000000"/>
                </a:highlight>
              </a:rPr>
              <a:t>P</a:t>
            </a:r>
            <a:r>
              <a:rPr lang="en-US" dirty="0">
                <a:highlight>
                  <a:srgbClr val="000000"/>
                </a:highlight>
              </a:rPr>
              <a:t>repared By:</a:t>
            </a:r>
          </a:p>
          <a:p>
            <a:pPr>
              <a:defRPr sz="1600" b="0">
                <a:solidFill>
                  <a:srgbClr val="FFFFFF"/>
                </a:solidFill>
                <a:latin typeface="Arial"/>
              </a:defRPr>
            </a:pPr>
            <a:r>
              <a:rPr lang="en-US" dirty="0">
                <a:highlight>
                  <a:srgbClr val="000000"/>
                </a:highlight>
              </a:rPr>
              <a:t>Akanksha Mishra </a:t>
            </a:r>
          </a:p>
          <a:p>
            <a:pPr>
              <a:defRPr sz="1600" b="0">
                <a:solidFill>
                  <a:srgbClr val="FFFFFF"/>
                </a:solidFill>
                <a:latin typeface="Arial"/>
              </a:defRPr>
            </a:pPr>
            <a:r>
              <a:rPr lang="en-US" dirty="0" err="1">
                <a:highlight>
                  <a:srgbClr val="000000"/>
                </a:highlight>
              </a:rPr>
              <a:t>Nexthikes</a:t>
            </a:r>
            <a:r>
              <a:rPr lang="en-US" dirty="0">
                <a:highlight>
                  <a:srgbClr val="000000"/>
                </a:highlight>
              </a:rPr>
              <a:t> IT Solutions </a:t>
            </a:r>
          </a:p>
        </p:txBody>
      </p:sp>
    </p:spTree>
    <p:extLst>
      <p:ext uri="{BB962C8B-B14F-4D97-AF65-F5344CB8AC3E}">
        <p14:creationId xmlns:p14="http://schemas.microsoft.com/office/powerpoint/2010/main" val="345222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2500" b="1">
                <a:solidFill>
                  <a:srgbClr val="122B4A"/>
                </a:solidFill>
                <a:latin typeface="Arial"/>
              </a:defRPr>
            </a:pPr>
            <a:r>
              <a:t>Project Objective and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77824"/>
            <a:ext cx="11064240" cy="32004"/>
          </a:xfrm>
          <a:prstGeom prst="rect">
            <a:avLst/>
          </a:prstGeom>
          <a:solidFill>
            <a:srgbClr val="1C8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900" b="0">
                <a:solidFill>
                  <a:srgbClr val="5F6E7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rial"/>
              </a:defRPr>
            </a:pPr>
            <a:r>
              <a:t>• Analyze relationships between job-title keywords and offered pay.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rial"/>
              </a:defRPr>
            </a:pPr>
            <a:r>
              <a:t>• Identify frequent and potentially emerging job categories from posting patterns.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rial"/>
              </a:defRPr>
            </a:pPr>
            <a:r>
              <a:t>• Examine posting volume over time and evaluate exploratory demand forecasting.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rial"/>
              </a:defRPr>
            </a:pPr>
            <a:r>
              <a:t>• Compare hourly rates by country while noting sample and currency limitations.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rial"/>
              </a:defRPr>
            </a:pPr>
            <a:r>
              <a:t>• Build a title-similarity recommendation engine for job seekers.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rial"/>
              </a:defRPr>
            </a:pPr>
            <a:r>
              <a:t>• Investigate monthly changes and remote-work signals.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rial"/>
              </a:defRPr>
            </a:pPr>
            <a:r>
              <a:t>• Deliver an interactive Streamlit dashboard packaged with Docker.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2500" b="1">
                <a:solidFill>
                  <a:srgbClr val="122B4A"/>
                </a:solidFill>
                <a:latin typeface="Arial"/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77824"/>
            <a:ext cx="11064240" cy="32004"/>
          </a:xfrm>
          <a:prstGeom prst="rect">
            <a:avLst/>
          </a:prstGeom>
          <a:solidFill>
            <a:srgbClr val="1C8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900" b="0">
                <a:solidFill>
                  <a:srgbClr val="5F6E7D"/>
                </a:solidFill>
                <a:latin typeface="Arial"/>
              </a:defRPr>
            </a:pPr>
            <a:r>
              <a:t>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10698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Rows after cleaning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244,818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Available 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Title, link, published date, hourly flag, hourly low/high, budget, country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Observed date range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02 Nov 2023 – 24 Mar 2024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Pay 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Hourly rates and fixed-price budgets are separate measures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Not provided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Job descriptions, skills, normalized currency, explicit remote field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8463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  <a:latin typeface="Arial"/>
              </a:defRPr>
            </a:pPr>
            <a:r>
              <a:t>• Categories are inferred from title keywords, not official labels.</a:t>
            </a:r>
          </a:p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  <a:latin typeface="Arial"/>
              </a:defRPr>
            </a:pPr>
            <a:r>
              <a:t>• The short observation window limits durable trend and forecast claims.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2500" b="1">
                <a:solidFill>
                  <a:srgbClr val="122B4A"/>
                </a:solidFill>
                <a:latin typeface="Arial"/>
              </a:defRPr>
            </a:pPr>
            <a:r>
              <a:t>Analytical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77824"/>
            <a:ext cx="11064240" cy="32004"/>
          </a:xfrm>
          <a:prstGeom prst="rect">
            <a:avLst/>
          </a:prstGeom>
          <a:solidFill>
            <a:srgbClr val="1C8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900" b="0">
                <a:solidFill>
                  <a:srgbClr val="5F6E7D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46120" cy="1234440"/>
          </a:xfrm>
          <a:prstGeom prst="roundRect">
            <a:avLst/>
          </a:prstGeom>
          <a:solidFill>
            <a:srgbClr val="F2F7FB"/>
          </a:solidFill>
          <a:ln>
            <a:solidFill>
              <a:srgbClr val="1C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09928"/>
            <a:ext cx="2926080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1600" b="1">
                <a:solidFill>
                  <a:srgbClr val="122B4A"/>
                </a:solidFill>
                <a:latin typeface="Arial"/>
              </a:defRPr>
            </a:pPr>
            <a:r>
              <a:t>01 Load &amp; 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292608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1200" b="0">
                <a:solidFill>
                  <a:srgbClr val="232D37"/>
                </a:solidFill>
                <a:latin typeface="Arial"/>
              </a:defRPr>
            </a:pPr>
            <a:r>
              <a:t>Types, missing values, duplicate links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554480"/>
            <a:ext cx="3246120" cy="1234440"/>
          </a:xfrm>
          <a:prstGeom prst="roundRect">
            <a:avLst/>
          </a:prstGeom>
          <a:solidFill>
            <a:srgbClr val="F2F7FB"/>
          </a:solidFill>
          <a:ln>
            <a:solidFill>
              <a:srgbClr val="1C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709928"/>
            <a:ext cx="2926080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1600" b="1">
                <a:solidFill>
                  <a:srgbClr val="122B4A"/>
                </a:solidFill>
                <a:latin typeface="Arial"/>
              </a:defRPr>
            </a:pPr>
            <a:r>
              <a:t>02 Explore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75688"/>
            <a:ext cx="292608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1200" b="0">
                <a:solidFill>
                  <a:srgbClr val="232D37"/>
                </a:solidFill>
                <a:latin typeface="Arial"/>
              </a:defRPr>
            </a:pPr>
            <a:r>
              <a:rPr dirty="0"/>
              <a:t>Contract types, countries, dates, pay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3246120" cy="1234440"/>
          </a:xfrm>
          <a:prstGeom prst="roundRect">
            <a:avLst/>
          </a:prstGeom>
          <a:solidFill>
            <a:srgbClr val="F2F7FB"/>
          </a:solidFill>
          <a:ln>
            <a:solidFill>
              <a:srgbClr val="1C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709928"/>
            <a:ext cx="2926080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1600" b="1">
                <a:solidFill>
                  <a:srgbClr val="122B4A"/>
                </a:solidFill>
                <a:latin typeface="Arial"/>
              </a:defRPr>
            </a:pPr>
            <a:r>
              <a:t>03 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075688"/>
            <a:ext cx="292608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1200" b="0">
                <a:solidFill>
                  <a:srgbClr val="232D37"/>
                </a:solidFill>
                <a:latin typeface="Arial"/>
              </a:defRPr>
            </a:pPr>
            <a:r>
              <a:rPr dirty="0"/>
              <a:t>Categories, pay, remote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11880"/>
            <a:ext cx="3246120" cy="1234440"/>
          </a:xfrm>
          <a:prstGeom prst="roundRect">
            <a:avLst/>
          </a:prstGeom>
          <a:solidFill>
            <a:srgbClr val="F2F7FB"/>
          </a:solidFill>
          <a:ln>
            <a:solidFill>
              <a:srgbClr val="1C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767328"/>
            <a:ext cx="2926080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1600" b="1">
                <a:solidFill>
                  <a:srgbClr val="122B4A"/>
                </a:solidFill>
                <a:latin typeface="Arial"/>
              </a:defRPr>
            </a:pPr>
            <a:r>
              <a:t>04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33088"/>
            <a:ext cx="292608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1200" b="0">
                <a:solidFill>
                  <a:srgbClr val="232D37"/>
                </a:solidFill>
                <a:latin typeface="Arial"/>
              </a:defRPr>
            </a:pPr>
            <a:r>
              <a:t>Forecast evaluation and TF-IDF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611880"/>
            <a:ext cx="3246120" cy="1234440"/>
          </a:xfrm>
          <a:prstGeom prst="roundRect">
            <a:avLst/>
          </a:prstGeom>
          <a:solidFill>
            <a:srgbClr val="F2F7FB"/>
          </a:solidFill>
          <a:ln>
            <a:solidFill>
              <a:srgbClr val="1C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3767328"/>
            <a:ext cx="2926080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1600" b="1">
                <a:solidFill>
                  <a:srgbClr val="122B4A"/>
                </a:solidFill>
                <a:latin typeface="Arial"/>
              </a:defRPr>
            </a:pPr>
            <a:r>
              <a:t>05 Present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133088"/>
            <a:ext cx="292608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1200" b="0">
                <a:solidFill>
                  <a:srgbClr val="232D37"/>
                </a:solidFill>
                <a:latin typeface="Arial"/>
              </a:defRPr>
            </a:pPr>
            <a:r>
              <a:t>Streamlit dashboard and exports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611880"/>
            <a:ext cx="3246120" cy="1234440"/>
          </a:xfrm>
          <a:prstGeom prst="roundRect">
            <a:avLst/>
          </a:prstGeom>
          <a:solidFill>
            <a:srgbClr val="F2F7FB"/>
          </a:solidFill>
          <a:ln>
            <a:solidFill>
              <a:srgbClr val="1C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3767328"/>
            <a:ext cx="2926080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1600" b="1">
                <a:solidFill>
                  <a:srgbClr val="122B4A"/>
                </a:solidFill>
                <a:latin typeface="Arial"/>
              </a:defRPr>
            </a:pPr>
            <a:r>
              <a:t>06 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133088"/>
            <a:ext cx="292608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1200" b="0">
                <a:solidFill>
                  <a:srgbClr val="232D37"/>
                </a:solidFill>
                <a:latin typeface="Arial"/>
              </a:defRPr>
            </a:pPr>
            <a:r>
              <a:t>Docker image and runtime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7A55A78B-BA58-4E63-B60D-96B67189B440}"/>
              </a:ext>
            </a:extLst>
          </p:cNvPr>
          <p:cNvSpPr/>
          <p:nvPr/>
        </p:nvSpPr>
        <p:spPr>
          <a:xfrm>
            <a:off x="4128940" y="2075688"/>
            <a:ext cx="351620" cy="32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0B02DBE6-8944-4F89-B644-CB7486900C84}"/>
              </a:ext>
            </a:extLst>
          </p:cNvPr>
          <p:cNvSpPr/>
          <p:nvPr/>
        </p:nvSpPr>
        <p:spPr>
          <a:xfrm>
            <a:off x="7881751" y="2011680"/>
            <a:ext cx="351620" cy="32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5CFEC1CB-1754-4C3E-94AA-88F5D80FACBB}"/>
              </a:ext>
            </a:extLst>
          </p:cNvPr>
          <p:cNvSpPr/>
          <p:nvPr/>
        </p:nvSpPr>
        <p:spPr>
          <a:xfrm>
            <a:off x="4082042" y="4105846"/>
            <a:ext cx="351620" cy="32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1BA90339-0823-441B-B9C3-60095323ADED}"/>
              </a:ext>
            </a:extLst>
          </p:cNvPr>
          <p:cNvSpPr/>
          <p:nvPr/>
        </p:nvSpPr>
        <p:spPr>
          <a:xfrm>
            <a:off x="7909560" y="4041648"/>
            <a:ext cx="351620" cy="32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2500" b="1">
                <a:solidFill>
                  <a:srgbClr val="122B4A"/>
                </a:solidFill>
                <a:latin typeface="Arial"/>
              </a:defRPr>
            </a:pPr>
            <a:r>
              <a:t>Job Postings by Contract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77824"/>
            <a:ext cx="11064240" cy="32004"/>
          </a:xfrm>
          <a:prstGeom prst="rect">
            <a:avLst/>
          </a:prstGeom>
          <a:solidFill>
            <a:srgbClr val="1C8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900" b="0">
                <a:solidFill>
                  <a:srgbClr val="5F6E7D"/>
                </a:solidFill>
                <a:latin typeface="Arial"/>
              </a:defRPr>
            </a:pPr>
            <a:r>
              <a:t>05</a:t>
            </a:r>
          </a:p>
        </p:txBody>
      </p:sp>
      <p:pic>
        <p:nvPicPr>
          <p:cNvPr id="6" name="Picture 5" descr="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152404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36714" y="2475479"/>
            <a:ext cx="4114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rial"/>
              </a:defRPr>
            </a:pPr>
            <a:r>
              <a:rPr dirty="0"/>
              <a:t>• Hourly postings: 140,935.</a:t>
            </a:r>
          </a:p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rial"/>
              </a:defRPr>
            </a:pPr>
            <a:r>
              <a:rPr dirty="0"/>
              <a:t>• Fixed-price postings: 103,883.</a:t>
            </a:r>
          </a:p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rial"/>
              </a:defRPr>
            </a:pPr>
            <a:r>
              <a:rPr dirty="0"/>
              <a:t>• Unclassified contract type: 0.</a:t>
            </a:r>
          </a:p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rial"/>
              </a:defRPr>
            </a:pPr>
            <a:r>
              <a:rPr dirty="0"/>
              <a:t>• Hourly rates and fixed-price budgets must be analyzed separately.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2500" b="1">
                <a:solidFill>
                  <a:srgbClr val="122B4A"/>
                </a:solidFill>
                <a:latin typeface="Arial"/>
              </a:defRPr>
            </a:pPr>
            <a:r>
              <a:t>Where Are the Jobs Posted?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77824"/>
            <a:ext cx="11064240" cy="32004"/>
          </a:xfrm>
          <a:prstGeom prst="rect">
            <a:avLst/>
          </a:prstGeom>
          <a:solidFill>
            <a:srgbClr val="1C8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900" b="0">
                <a:solidFill>
                  <a:srgbClr val="5F6E7D"/>
                </a:solidFill>
                <a:latin typeface="Arial"/>
              </a:defRPr>
            </a:pPr>
            <a:r>
              <a:t>06</a:t>
            </a:r>
          </a:p>
        </p:txBody>
      </p:sp>
      <p:pic>
        <p:nvPicPr>
          <p:cNvPr id="6" name="Picture 5" descr="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048709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93897" y="2385076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United States: 99,827 postings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United Kingdom: 19,148 postings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India: 15,834 postings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Australia: 12,618 postings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Canada: 11,658 postings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Country is the dataset's location field and may not mean employer headquarters.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2500" b="1">
                <a:solidFill>
                  <a:srgbClr val="122B4A"/>
                </a:solidFill>
                <a:latin typeface="Arial"/>
              </a:defRPr>
            </a:pPr>
            <a:r>
              <a:t>Most Frequent Job Categories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77824"/>
            <a:ext cx="11064240" cy="32004"/>
          </a:xfrm>
          <a:prstGeom prst="rect">
            <a:avLst/>
          </a:prstGeom>
          <a:solidFill>
            <a:srgbClr val="1C8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97280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1100" b="0">
                <a:solidFill>
                  <a:srgbClr val="5F6E7D"/>
                </a:solidFill>
                <a:latin typeface="Arial"/>
              </a:defRPr>
            </a:pPr>
            <a:r>
              <a:t>Categories inferred from title keywords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900" b="0">
                <a:solidFill>
                  <a:srgbClr val="5F6E7D"/>
                </a:solidFill>
                <a:latin typeface="Arial"/>
              </a:defRPr>
            </a:pPr>
            <a:r>
              <a:t>07</a:t>
            </a:r>
          </a:p>
        </p:txBody>
      </p:sp>
      <p:pic>
        <p:nvPicPr>
          <p:cNvPr id="6" name="Picture 5" descr="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18" y="1426464"/>
            <a:ext cx="616183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99629" y="2506776"/>
            <a:ext cx="4023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Other: 164,067 postings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Software Development: 19,011 postings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Marketing: 18,825 postings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Writing: 17,457 postings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Design: 14,661 postings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The first matching keyword group determines the category.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‘Other’ means no predefined group matched.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2500" b="1">
                <a:solidFill>
                  <a:srgbClr val="122B4A"/>
                </a:solidFill>
                <a:latin typeface="Arial"/>
              </a:defRPr>
            </a:pPr>
            <a:r>
              <a:t>Job Category and Hourly Pay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77824"/>
            <a:ext cx="11064240" cy="32004"/>
          </a:xfrm>
          <a:prstGeom prst="rect">
            <a:avLst/>
          </a:prstGeom>
          <a:solidFill>
            <a:srgbClr val="1C8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900" b="0">
                <a:solidFill>
                  <a:srgbClr val="5F6E7D"/>
                </a:solidFill>
                <a:latin typeface="Arial"/>
              </a:defRPr>
            </a:pPr>
            <a:r>
              <a:t>08</a:t>
            </a:r>
          </a:p>
        </p:txBody>
      </p:sp>
      <p:pic>
        <p:nvPicPr>
          <p:cNvPr id="6" name="Picture 5" descr="sal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59308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41411" y="2267712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rPr dirty="0"/>
              <a:t>• Data Analytics: median 30.00 across 1,293 jobs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rPr dirty="0"/>
              <a:t>• AI &amp; Machine Learning: median 28.50 across 376 jobs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rPr dirty="0"/>
              <a:t>• Software Development: median 25.00 across 8,931 jobs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rPr dirty="0"/>
              <a:t>• Design: median 25.00 across 6,295 jobs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rPr dirty="0"/>
              <a:t>• Other: median 23.00 across 62,693 jobs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rPr dirty="0"/>
              <a:t>• Median is less sensitive to outliers than the mean.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rPr dirty="0"/>
              <a:t>• Currency is not normalized; interpret rates cautiously.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2500" b="1">
                <a:solidFill>
                  <a:srgbClr val="122B4A"/>
                </a:solidFill>
                <a:latin typeface="Arial"/>
              </a:defRPr>
            </a:pPr>
            <a:r>
              <a:t>Job Posting Patterns Over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77824"/>
            <a:ext cx="11064240" cy="32004"/>
          </a:xfrm>
          <a:prstGeom prst="rect">
            <a:avLst/>
          </a:prstGeom>
          <a:solidFill>
            <a:srgbClr val="1C8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900" b="0">
                <a:solidFill>
                  <a:srgbClr val="5F6E7D"/>
                </a:solidFill>
                <a:latin typeface="Arial"/>
              </a:defRPr>
            </a:pPr>
            <a:r>
              <a:t>09</a:t>
            </a:r>
          </a:p>
        </p:txBody>
      </p:sp>
      <p:pic>
        <p:nvPicPr>
          <p:cNvPr id="6" name="Picture 5" descr="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153162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2450592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Peak observed day: 21 Feb 2024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Peak daily postings: 7,534.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Daily counts can fluctuate with platform activity and collection.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The short date range is insufficient for seasonal conclusions.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2500" b="1">
                <a:solidFill>
                  <a:srgbClr val="122B4A"/>
                </a:solidFill>
                <a:latin typeface="Arial"/>
              </a:defRPr>
            </a:pPr>
            <a:r>
              <a:t>Emerging Categories: First Half vs Second Half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77824"/>
            <a:ext cx="11064240" cy="32004"/>
          </a:xfrm>
          <a:prstGeom prst="rect">
            <a:avLst/>
          </a:prstGeom>
          <a:solidFill>
            <a:srgbClr val="1C8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900" b="0">
                <a:solidFill>
                  <a:srgbClr val="5F6E7D"/>
                </a:solidFill>
                <a:latin typeface="Arial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869884"/>
              </p:ext>
            </p:extLst>
          </p:nvPr>
        </p:nvGraphicFramePr>
        <p:xfrm>
          <a:off x="731520" y="1417320"/>
          <a:ext cx="803540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1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30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First half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Second half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Other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164,052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+164,037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Software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19,009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+19,007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Marketing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18,824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+18,823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Writing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rPr dirty="0"/>
                        <a:t>17,454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+17,451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Design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14,660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+14,659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Admin &amp;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5,287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+5,284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Data Analytics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2,515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+2,515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2,068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+2,067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AI &amp; Machine Learning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t>923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rial"/>
                        </a:defRPr>
                      </a:pPr>
                      <a:r>
                        <a:rPr dirty="0"/>
                        <a:t>+923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2500" b="1">
                <a:solidFill>
                  <a:srgbClr val="122B4A"/>
                </a:solidFill>
                <a:latin typeface="Arial"/>
              </a:defRPr>
            </a:pPr>
            <a:r>
              <a:t>Hourly Rates by Country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77824"/>
            <a:ext cx="11064240" cy="32004"/>
          </a:xfrm>
          <a:prstGeom prst="rect">
            <a:avLst/>
          </a:prstGeom>
          <a:solidFill>
            <a:srgbClr val="1C8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97280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1100" b="0">
                <a:solidFill>
                  <a:srgbClr val="5F6E7D"/>
                </a:solidFill>
                <a:latin typeface="Arial"/>
              </a:defRPr>
            </a:pPr>
            <a:r>
              <a:t>Countries with at least 30 usable hourly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900" b="0">
                <a:solidFill>
                  <a:srgbClr val="5F6E7D"/>
                </a:solidFill>
                <a:latin typeface="Arial"/>
              </a:defRPr>
            </a:pPr>
            <a:r>
              <a:t>11</a:t>
            </a:r>
          </a:p>
        </p:txBody>
      </p:sp>
      <p:pic>
        <p:nvPicPr>
          <p:cNvPr id="6" name="Picture 5" descr="country_sal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59308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79119" y="2151291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rPr dirty="0"/>
              <a:t>• Malaysia: mean 48.10 (n=325)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rPr dirty="0"/>
              <a:t>• Thailand: mean 42.21 (n=287)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rPr dirty="0"/>
              <a:t>• Jordan: mean 36.15 (n=55)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rPr dirty="0"/>
              <a:t>• United States: mean 32.58 (n=46,619)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rPr dirty="0"/>
              <a:t>• Latvia: mean 32.39 (n=106)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rPr dirty="0"/>
              <a:t>• Rates may not share a common currency.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rPr dirty="0"/>
              <a:t>• Results are descriptive and do not adjust for role mix or experience.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2500" b="1">
                <a:solidFill>
                  <a:srgbClr val="122B4A"/>
                </a:solidFill>
                <a:latin typeface="Arial"/>
              </a:defRPr>
            </a:pPr>
            <a:r>
              <a:t>Monthly Job Market Dynamics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77824"/>
            <a:ext cx="11064240" cy="32004"/>
          </a:xfrm>
          <a:prstGeom prst="rect">
            <a:avLst/>
          </a:prstGeom>
          <a:solidFill>
            <a:srgbClr val="1C8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900" b="0">
                <a:solidFill>
                  <a:srgbClr val="5F6E7D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89788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24215" y="211726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2023-11: 1 postings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2023-12: 10 postings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2024-01: 96 postings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2024-02: 101,886 postings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2024-03: 142,825 postings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Only months represented in the file can be compared.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rPr dirty="0"/>
              <a:t>• Continued monthly data collection is needed for monitoring.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2500" b="1">
                <a:solidFill>
                  <a:srgbClr val="122B4A"/>
                </a:solidFill>
                <a:latin typeface="Arial"/>
              </a:defRPr>
            </a:pPr>
            <a:r>
              <a:t>Remote-Work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77824"/>
            <a:ext cx="11064240" cy="32004"/>
          </a:xfrm>
          <a:prstGeom prst="rect">
            <a:avLst/>
          </a:prstGeom>
          <a:solidFill>
            <a:srgbClr val="1C8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900" b="0">
                <a:solidFill>
                  <a:srgbClr val="5F6E7D"/>
                </a:solidFill>
                <a:latin typeface="Arial"/>
              </a:defRPr>
            </a:pPr>
            <a:r>
              <a:t>13</a:t>
            </a:r>
          </a:p>
        </p:txBody>
      </p:sp>
      <p:pic>
        <p:nvPicPr>
          <p:cNvPr id="6" name="Picture 5" descr="rem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92616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1350" y="2930793"/>
            <a:ext cx="4023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rPr dirty="0"/>
              <a:t>• Titles with remote-related keywords: 5,705.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rPr dirty="0"/>
              <a:t>• Share of all postings: 2.33%.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rPr dirty="0"/>
              <a:t>• Keywords include remote, work from home, WFH, anywhere, distributed and virtual.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rPr dirty="0"/>
              <a:t>• Remote jobs may be missed if titles omit these terms.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2500" b="1">
                <a:solidFill>
                  <a:srgbClr val="122B4A"/>
                </a:solidFill>
                <a:latin typeface="Arial"/>
              </a:defRPr>
            </a:pPr>
            <a:r>
              <a:t>Job Recommendation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77824"/>
            <a:ext cx="11064240" cy="32004"/>
          </a:xfrm>
          <a:prstGeom prst="rect">
            <a:avLst/>
          </a:prstGeom>
          <a:solidFill>
            <a:srgbClr val="1C8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97280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1100" b="0">
                <a:solidFill>
                  <a:srgbClr val="5F6E7D"/>
                </a:solidFill>
                <a:latin typeface="Arial"/>
              </a:defRPr>
            </a:pPr>
            <a:r>
              <a:t>Content-based ranking using TF-IDF and cosine similarity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900" b="0">
                <a:solidFill>
                  <a:srgbClr val="5F6E7D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t>• Input: a job seeker's query, such as “Python data analyst SQL”.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t>• TF-IDF converts title text into weighted word and phrase features.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t>• Cosine similarity ranks postings by similarity to the query.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t>• Results can show title, country, rates, budget, and posting link.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t>• Title similarity is not a measure of candidate qualifications or hiring probability.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00600"/>
            <a:ext cx="2423160" cy="914400"/>
          </a:xfrm>
          <a:prstGeom prst="roundRect">
            <a:avLst/>
          </a:prstGeom>
          <a:solidFill>
            <a:srgbClr val="F2F7FB"/>
          </a:solidFill>
          <a:ln>
            <a:solidFill>
              <a:srgbClr val="1C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4937760"/>
            <a:ext cx="2240280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defRPr sz="1300" b="1">
                <a:solidFill>
                  <a:srgbClr val="122B4A"/>
                </a:solidFill>
                <a:latin typeface="Arial"/>
              </a:defRPr>
            </a:pPr>
            <a:r>
              <a:t>User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5257800"/>
            <a:ext cx="2240280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defRPr sz="1000" b="0">
                <a:solidFill>
                  <a:srgbClr val="232D37"/>
                </a:solidFill>
                <a:latin typeface="Arial"/>
              </a:defRPr>
            </a:pPr>
            <a:r>
              <a:t>Role or skill terms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4800600"/>
            <a:ext cx="2423160" cy="914400"/>
          </a:xfrm>
          <a:prstGeom prst="roundRect">
            <a:avLst/>
          </a:prstGeom>
          <a:solidFill>
            <a:srgbClr val="F2F7FB"/>
          </a:solidFill>
          <a:ln>
            <a:solidFill>
              <a:srgbClr val="1C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79" y="4937760"/>
            <a:ext cx="2240280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defRPr sz="1300" b="1">
                <a:solidFill>
                  <a:srgbClr val="122B4A"/>
                </a:solidFill>
                <a:latin typeface="Arial"/>
              </a:defRPr>
            </a:pPr>
            <a:r>
              <a:t>TF-IDF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5257800"/>
            <a:ext cx="2240280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defRPr sz="1000" b="0">
                <a:solidFill>
                  <a:srgbClr val="232D37"/>
                </a:solidFill>
                <a:latin typeface="Arial"/>
              </a:defRPr>
            </a:pPr>
            <a:r>
              <a:t>Vectorize title 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800600"/>
            <a:ext cx="2423160" cy="914400"/>
          </a:xfrm>
          <a:prstGeom prst="roundRect">
            <a:avLst/>
          </a:prstGeom>
          <a:solidFill>
            <a:srgbClr val="F2F7FB"/>
          </a:solidFill>
          <a:ln>
            <a:solidFill>
              <a:srgbClr val="1C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4937760"/>
            <a:ext cx="2240280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defRPr sz="1300" b="1">
                <a:solidFill>
                  <a:srgbClr val="122B4A"/>
                </a:solidFill>
                <a:latin typeface="Arial"/>
              </a:defRPr>
            </a:pPr>
            <a:r>
              <a:t>Similarity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257800"/>
            <a:ext cx="2240280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defRPr sz="1000" b="0">
                <a:solidFill>
                  <a:srgbClr val="232D37"/>
                </a:solidFill>
                <a:latin typeface="Arial"/>
              </a:defRPr>
            </a:pPr>
            <a:r>
              <a:t>Rank matches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59" y="4800600"/>
            <a:ext cx="2423160" cy="914400"/>
          </a:xfrm>
          <a:prstGeom prst="roundRect">
            <a:avLst/>
          </a:prstGeom>
          <a:solidFill>
            <a:srgbClr val="F2F7FB"/>
          </a:solidFill>
          <a:ln>
            <a:solidFill>
              <a:srgbClr val="1C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599" y="4937760"/>
            <a:ext cx="2240280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defRPr sz="1300" b="1">
                <a:solidFill>
                  <a:srgbClr val="122B4A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599" y="5257800"/>
            <a:ext cx="2240280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defRPr sz="1000" b="0">
                <a:solidFill>
                  <a:srgbClr val="232D37"/>
                </a:solidFill>
                <a:latin typeface="Arial"/>
              </a:defRPr>
            </a:pPr>
            <a:r>
              <a:t>Show postings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DA8836D-4AE4-49D1-8BC3-31F01A354371}"/>
              </a:ext>
            </a:extLst>
          </p:cNvPr>
          <p:cNvSpPr/>
          <p:nvPr/>
        </p:nvSpPr>
        <p:spPr>
          <a:xfrm>
            <a:off x="3154679" y="5166360"/>
            <a:ext cx="36576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7E7FDFA-4E32-45D0-B291-665C3D9A8E4D}"/>
              </a:ext>
            </a:extLst>
          </p:cNvPr>
          <p:cNvSpPr/>
          <p:nvPr/>
        </p:nvSpPr>
        <p:spPr>
          <a:xfrm>
            <a:off x="5897880" y="5166360"/>
            <a:ext cx="36576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3DD63BD0-CDF9-422A-BC92-190B546194BC}"/>
              </a:ext>
            </a:extLst>
          </p:cNvPr>
          <p:cNvSpPr/>
          <p:nvPr/>
        </p:nvSpPr>
        <p:spPr>
          <a:xfrm>
            <a:off x="8892539" y="5167303"/>
            <a:ext cx="36576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2500" b="1">
                <a:solidFill>
                  <a:srgbClr val="122B4A"/>
                </a:solidFill>
                <a:latin typeface="Arial"/>
              </a:defRPr>
            </a:pPr>
            <a:r>
              <a:t>Web Application: Streamlit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77824"/>
            <a:ext cx="11064240" cy="32004"/>
          </a:xfrm>
          <a:prstGeom prst="rect">
            <a:avLst/>
          </a:prstGeom>
          <a:solidFill>
            <a:srgbClr val="1C8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900" b="0">
                <a:solidFill>
                  <a:srgbClr val="5F6E7D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t>• KPI cards summarize postings, countries, categories, and median hourly rates.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t>• Sidebar filters allow country and inferred-category selection.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t>• Charts display posting frequency, pay comparisons, monthly activity, and remote-title signals.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t>• Search input returns postings ranked by title similarity.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t>• CSV download supports further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2000" b="1">
                <a:solidFill>
                  <a:srgbClr val="1C8C87"/>
                </a:solidFill>
                <a:latin typeface="Arial"/>
              </a:defRPr>
            </a:pPr>
            <a:r>
              <a:t>Launch command: streamlit run app.py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2500" b="1">
                <a:solidFill>
                  <a:srgbClr val="122B4A"/>
                </a:solidFill>
                <a:latin typeface="Arial"/>
              </a:defRPr>
            </a:pPr>
            <a:r>
              <a:t>Containerization with Docker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77824"/>
            <a:ext cx="11064240" cy="32004"/>
          </a:xfrm>
          <a:prstGeom prst="rect">
            <a:avLst/>
          </a:prstGeom>
          <a:solidFill>
            <a:srgbClr val="1C8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97280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1100" b="0">
                <a:solidFill>
                  <a:srgbClr val="5F6E7D"/>
                </a:solidFill>
                <a:latin typeface="Arial"/>
              </a:defRPr>
            </a:pPr>
            <a:r>
              <a:t>Consistent runtime for local development and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900" b="0">
                <a:solidFill>
                  <a:srgbClr val="5F6E7D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t>• Dockerfile defines the Python runtime, dependencies, application, and dataset.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t>• Build image: docker build -t job-market-analysis 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t>• Run container: docker run -p 8501:8501 job-market-analysis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t>• Open http://localhost:8501 in a browser.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t>• Keep the dataset filename consistent in app.py and the Dockerfile.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3779"/>
            <a:ext cx="10607040" cy="4114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1500" b="1">
                <a:solidFill>
                  <a:srgbClr val="122B4A"/>
                </a:solidFill>
                <a:latin typeface="Arial"/>
              </a:defRPr>
            </a:pPr>
            <a:r>
              <a:rPr dirty="0"/>
              <a:t>Project files: app.py • requirements.txt • </a:t>
            </a:r>
            <a:r>
              <a:rPr dirty="0" err="1"/>
              <a:t>Dockerfile</a:t>
            </a:r>
            <a:r>
              <a:rPr dirty="0"/>
              <a:t> • source Excel dataset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2500" b="1">
                <a:solidFill>
                  <a:srgbClr val="122B4A"/>
                </a:solidFill>
                <a:latin typeface="Arial"/>
              </a:defRPr>
            </a:pPr>
            <a:r>
              <a:rPr dirty="0"/>
              <a:t>Limitations and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77824"/>
            <a:ext cx="11064240" cy="32004"/>
          </a:xfrm>
          <a:prstGeom prst="rect">
            <a:avLst/>
          </a:prstGeom>
          <a:solidFill>
            <a:srgbClr val="1C8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900" b="0">
                <a:solidFill>
                  <a:srgbClr val="5F6E7D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431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rPr dirty="0"/>
              <a:t>• The dataset covers a short period; forecasts and trends are exploratory.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rPr dirty="0"/>
              <a:t>• Categories and remote-work signals are keyword-derived, not ground-truth labels.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rPr dirty="0"/>
              <a:t>• Country rates may use different currencies and are not normalized.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rPr dirty="0"/>
              <a:t>• Job descriptions, skills, experience levels, and candidate profiles are not provided.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rPr dirty="0"/>
              <a:t>• Collect more months of data, add richer fields, validate categories, and evaluate recommendations.</a:t>
            </a:r>
            <a:endParaRPr lang="en-US" dirty="0"/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endParaRPr lang="en-US" dirty="0"/>
          </a:p>
          <a:p>
            <a:pPr>
              <a:spcAft>
                <a:spcPts val="800"/>
              </a:spcAft>
              <a:defRPr sz="2500" b="1">
                <a:solidFill>
                  <a:srgbClr val="122B4A"/>
                </a:solidFill>
                <a:latin typeface="Arial"/>
              </a:defRPr>
            </a:pPr>
            <a:r>
              <a:rPr lang="en-US" sz="2500" b="1" dirty="0">
                <a:solidFill>
                  <a:srgbClr val="122B4A"/>
                </a:solidFill>
                <a:latin typeface="Arial"/>
              </a:rPr>
              <a:t>Conclusion: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rPr lang="en-US" dirty="0"/>
              <a:t>• The analysis describes posting volume, inferred categories, observed hourly pay, and country patterns.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rPr lang="en-US" dirty="0"/>
              <a:t>• The historical snapshot does not establish long-term market certainty.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rPr lang="en-US" dirty="0"/>
              <a:t>• TF-IDF demonstrates a practical baseline for title-based recommendations.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rPr lang="en-US" dirty="0"/>
              <a:t>• </a:t>
            </a:r>
            <a:r>
              <a:rPr lang="en-US" dirty="0" err="1"/>
              <a:t>Streamlit</a:t>
            </a:r>
            <a:r>
              <a:rPr lang="en-US" dirty="0"/>
              <a:t> makes the analysis interactive; Docker packages it for reproducible deployment.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  <a:latin typeface="Arial"/>
              </a:defRPr>
            </a:pPr>
            <a:r>
              <a:rPr lang="en-US" dirty="0"/>
              <a:t>• Future iterations should use richer data and longer time coverage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0352" y="877824"/>
            <a:ext cx="11064240" cy="32004"/>
          </a:xfrm>
          <a:prstGeom prst="rect">
            <a:avLst/>
          </a:prstGeom>
          <a:solidFill>
            <a:srgbClr val="1C8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900" b="0">
                <a:solidFill>
                  <a:srgbClr val="5F6E7D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3100" y="2694694"/>
            <a:ext cx="10058400" cy="997196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defRPr sz="2300" b="1">
                <a:solidFill>
                  <a:srgbClr val="1C8C87"/>
                </a:solidFill>
                <a:latin typeface="Arial"/>
              </a:defRPr>
            </a:pPr>
            <a:r>
              <a:rPr sz="60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1139</Words>
  <Application>Microsoft Office PowerPoint</Application>
  <PresentationFormat>Widescreen</PresentationFormat>
  <Paragraphs>201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Akansha</dc:creator>
  <cp:keywords/>
  <dc:description>generated using python-pptx</dc:description>
  <cp:lastModifiedBy>Akansha</cp:lastModifiedBy>
  <cp:revision>4</cp:revision>
  <dcterms:created xsi:type="dcterms:W3CDTF">2013-01-27T09:14:16Z</dcterms:created>
  <dcterms:modified xsi:type="dcterms:W3CDTF">2026-10-15T17:41:11Z</dcterms:modified>
  <cp:category/>
</cp:coreProperties>
</file>